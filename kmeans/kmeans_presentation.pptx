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hyperlink" Target="https://colab.research.google.com/drive/1i4YOxZiFccnV_ikNaJgGaJCBJy30Nuss?usp=sharing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1371600" y="2011680"/>
            <a:ext cx="9418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  и  K-Means++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71600" y="3474720"/>
            <a:ext cx="9418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Алгоритмы кластеризации:</a:t>
            </a:r>
            <a:endParaRPr/>
          </a:p>
          <a:p>
            <a:pPr indent="0" lvl="0" marL="0" marR="0" rtl="0" algn="ctr">
              <a:lnSpc>
                <a:spcPct val="119958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ru-RU" sz="24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теория, обучение, метрики качества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402080" y="4312565"/>
            <a:ext cx="9418320" cy="3359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Обучение без учителя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1/18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366588" y="6135692"/>
            <a:ext cx="348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Выполнил: Ланин Даниил, 25223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Что такое кластеризация?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31525" y="1188725"/>
            <a:ext cx="5303400" cy="32253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1005840" y="1371600"/>
            <a:ext cx="4846200" cy="2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Обучение без учителя (Unsupervised)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Цель — разбить объекты на группы: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•  Внутри группы — похожи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•  Между группами — различаются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Метки НЕ заданы заранее.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Алгоритм находит структуру сам.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583680" y="1188720"/>
            <a:ext cx="4846320" cy="206742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858000" y="1280160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7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Классификация vs Кластеризация: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858000" y="1920240"/>
            <a:ext cx="4389120" cy="11695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Классификация - метки известны, учим предсказывать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327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Кластеризация - меток нет, ищем группы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4721" y="4483115"/>
            <a:ext cx="5744527" cy="22963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K-Means: идея и целевая функция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731520" y="1188720"/>
            <a:ext cx="10698480" cy="23774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1005840" y="1280160"/>
            <a:ext cx="100584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WCSS - Within-Cluster Sum of Squares: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1697000"/>
            <a:ext cx="7315200" cy="173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/>
          <p:nvPr/>
        </p:nvSpPr>
        <p:spPr>
          <a:xfrm>
            <a:off x="731520" y="3840480"/>
            <a:ext cx="5303520" cy="2743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1005840" y="3931920"/>
            <a:ext cx="48463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Обозначения: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K   — число кластеров (задаётся)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Cₖ  — множество точек кластера k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μₖ  — центроид (среднее) кластера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‖·‖² — квадрат евклидова расстояния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583680" y="3840480"/>
            <a:ext cx="4846320" cy="2743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6858000" y="3931920"/>
            <a:ext cx="4389120" cy="18780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Смысл: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Чем меньше WCSS — тем плотнее точки сгруппированы вокруг центров.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K-Means минимизирует WCSS итеративно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3/17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Алгоритм Ллойда: шаги K-Means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908811"/>
            <a:ext cx="11247120" cy="230555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671830" y="3333750"/>
            <a:ext cx="10698480" cy="3449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939800" y="3450590"/>
            <a:ext cx="10058400" cy="3139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Инициализация центроидов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алгоритм случайным образом выбирает k начальных точек, которые служат временными центрами кластеров.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Назначение объектов кластерам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каждый объект в наборе данных назначается к кластеру, центроид которого находится ближе всего. Для расчёта расстояния обычно используют евклидову метрику, но есть и другие меры сходства, например косинусное расстояние или расстояние Манхэттена.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Обновление центроидов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после назначения объектов кластерам вычисляют новые центроиды: каждый центроид перемещается в среднюю точку всех объектов, принадлежащих его кластеру.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Повторение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- шаги 2 и 3 повторяют до тех пор, пока центроиды не перестанут значительно изменяться, что свидетельствует о достижении сходимости. В некоторых реализациях алгоритм также может быть завершён при достижении заданного числа итераций.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4/17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731520" y="483870"/>
            <a:ext cx="10058400" cy="6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Преимущества и недостатки k-means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419100" y="1085638"/>
            <a:ext cx="6997700" cy="5498042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474980" y="1268518"/>
            <a:ext cx="6759030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Преимущества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Простота и быстрота реализации.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Эффективность при работе с большими наборами данных.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Возможность применения в различных областях, таких как сегментация клиентов, обработка изображений, анализ социальных сетей и другие.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Недостатки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Зависимость от выбора числа кластеров (k).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Чувствительность к </a:t>
            </a: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начальной инициализации центроидов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Различные начальные точки могут привести к различным результатам.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Плохо справляется с данными, содержащими выбросы или сложные формы кластеров, например с перекрывающимися или нелинейными кластерами.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Не подходит для категориальных данных без предварительного преобразования.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5/17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2152" y="667084"/>
            <a:ext cx="3138328" cy="3002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66289" y="3669175"/>
            <a:ext cx="3230641" cy="3026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731520" y="39056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K-Means++: умная инициализация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287" y="1478097"/>
            <a:ext cx="11247120" cy="231850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966470" y="4417060"/>
            <a:ext cx="4424680" cy="152654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1145540" y="44627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6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Алгоритм (Arthur &amp; Vassilvitskii, 2007):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1145540" y="4814379"/>
            <a:ext cx="4086860" cy="874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Первый центроид - случайно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D(xᵢ) = расст. до ближайшего центроида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Следующий - с вероятностью:</a:t>
            </a:r>
            <a:endParaRPr/>
          </a:p>
        </p:txBody>
      </p:sp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24880" y="4417060"/>
            <a:ext cx="3200400" cy="168921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>
            <a:off x="731520" y="430786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На каких данных работает хорошо / плохо</a:t>
            </a:r>
            <a:endParaRPr/>
          </a:p>
        </p:txBody>
      </p:sp>
      <p:pic>
        <p:nvPicPr>
          <p:cNvPr descr="image.png" id="156" name="Google Shape;15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538228"/>
            <a:ext cx="11247120" cy="2318503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9"/>
          <p:cNvSpPr/>
          <p:nvPr/>
        </p:nvSpPr>
        <p:spPr>
          <a:xfrm>
            <a:off x="731520" y="4389120"/>
            <a:ext cx="5303520" cy="21945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1005840" y="4434840"/>
            <a:ext cx="48463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Хорошо работает 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1005840" y="49377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Сферические (выпуклые) кластеры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Примерно одинаковый размер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Одинаковая плотность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Чётко разделимые группы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6583680" y="4389120"/>
            <a:ext cx="4846320" cy="21945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6858000" y="4434840"/>
            <a:ext cx="438912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Плохо работает 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6858000" y="493776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Невыпуклые формы (луны, кольца)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Кластеры разного размера / плотности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Данные с выбросами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•  Альтернатива: DBSCAN, Spectral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731520" y="659962"/>
            <a:ext cx="1005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Метод локтя - выбор числа кластеров K</a:t>
            </a:r>
            <a:endParaRPr/>
          </a:p>
        </p:txBody>
      </p:sp>
      <p:pic>
        <p:nvPicPr>
          <p:cNvPr descr="image.png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010" y="1674796"/>
            <a:ext cx="6400800" cy="3791722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/>
          <p:nvPr/>
        </p:nvSpPr>
        <p:spPr>
          <a:xfrm>
            <a:off x="6736375" y="1958751"/>
            <a:ext cx="5333700" cy="39744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7034768" y="2048852"/>
            <a:ext cx="4727700" cy="3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Алгоритм:</a:t>
            </a:r>
            <a:endParaRPr/>
          </a:p>
          <a:p>
            <a:pPr indent="0" lvl="0" marL="0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Запустить K-Means для K = 1, 2, ..., K_max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Для каждого K посчитать WCSS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Построить график WCSS(K)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Найти «локоть» </a:t>
            </a:r>
            <a:r>
              <a:rPr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точку, после которой WCSS убывает медленно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6666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WCSS всегда убывает с ростом K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(при K = n </a:t>
            </a:r>
            <a:r>
              <a:rPr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WCSS = 0),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поэтому нельзя просто брать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минимум </a:t>
            </a:r>
            <a:r>
              <a:rPr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lang="ru-RU" sz="16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нужен именно перегиб.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8/17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731520" y="274320"/>
            <a:ext cx="11155680" cy="6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Метрика Silhouette Score - оценка качества кластеров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731520" y="1188720"/>
            <a:ext cx="5486400" cy="50292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 txBox="1"/>
          <p:nvPr/>
        </p:nvSpPr>
        <p:spPr>
          <a:xfrm>
            <a:off x="1005840" y="1280160"/>
            <a:ext cx="5029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Для каждой точки xᵢ: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a(i) = ср. расст. до своего кластера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b(i) = ср. расст. до ближайшего чужого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8750" y="2834640"/>
            <a:ext cx="3657600" cy="102328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1"/>
          <p:cNvSpPr txBox="1"/>
          <p:nvPr/>
        </p:nvSpPr>
        <p:spPr>
          <a:xfrm>
            <a:off x="1066647" y="4006460"/>
            <a:ext cx="5029200" cy="2519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Диапазон: [−1, 1]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≈  1  -  точка хорошо в своём кластере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≈  0 -  на границе кластеров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≈ −1  -  в чужом кластере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Итоговый Score = среднее по всем точкам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4" name="Google Shape;18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1005840"/>
            <a:ext cx="5303520" cy="360004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1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9/17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 vs K-Means++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>
            <a:off x="746760" y="1005840"/>
            <a:ext cx="10698480" cy="1929015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112520" y="109728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Параметр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4130040" y="109728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K-Means (random)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7513319" y="109728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500">
                <a:solidFill>
                  <a:srgbClr val="1F77B4"/>
                </a:solidFill>
                <a:latin typeface="Calibri"/>
                <a:ea typeface="Calibri"/>
                <a:cs typeface="Calibri"/>
                <a:sym typeface="Calibri"/>
              </a:rPr>
              <a:t>K-Means++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112520" y="1371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Инициализация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4130040" y="137160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Случайная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7513319" y="137160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Взвешенная  D²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112520" y="161517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Стабильность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4130040" y="161517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Низкая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7513319" y="161517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Высокая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112520" y="1889495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Скорость иниц.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4130040" y="1889495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O(K)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7513319" y="1889495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O(n · K · d)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112520" y="2163816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Сходимость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4130040" y="2163816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Больше итераций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7513319" y="2163816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Меньше итераций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1112520" y="2438135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sklearn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4130040" y="2438135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D62728"/>
                </a:solidFill>
                <a:latin typeface="Calibri"/>
                <a:ea typeface="Calibri"/>
                <a:cs typeface="Calibri"/>
                <a:sym typeface="Calibri"/>
              </a:rPr>
              <a:t>init='random'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7513319" y="2438135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500">
                <a:solidFill>
                  <a:srgbClr val="2CA02C"/>
                </a:solidFill>
                <a:latin typeface="Calibri"/>
                <a:ea typeface="Calibri"/>
                <a:cs typeface="Calibri"/>
                <a:sym typeface="Calibri"/>
              </a:rPr>
              <a:t>init='k-means++' (по умолч.)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6400800" y="3337263"/>
            <a:ext cx="5029200" cy="301752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675120" y="3954581"/>
            <a:ext cx="457200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На графике: 50 запусков (n_init=1)</a:t>
            </a:r>
            <a:endParaRPr/>
          </a:p>
          <a:p>
            <a:pPr indent="0" lvl="0" marL="0" marR="0" rtl="0" algn="l">
              <a:lnSpc>
                <a:spcPct val="113277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K-Means++ даёт: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•  Меньшее среднее WCSS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•  Значительно меньший разброс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1155680" y="6217254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10/17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3199734"/>
            <a:ext cx="5303520" cy="3383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731520" y="274320"/>
            <a:ext cx="10058400" cy="601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Где используется K-Means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 txBox="1"/>
          <p:nvPr/>
        </p:nvSpPr>
        <p:spPr>
          <a:xfrm>
            <a:off x="11155680" y="6217254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11/17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88344" y="948690"/>
            <a:ext cx="10710512" cy="5909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Сегментация клиентов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самый классический пример. Берёшь данные о покупателях (сколько тратят, как часто заходят, какие категории покупают) и K-Means разбивает их на группы: «экономные редкие», «постоянные средние», «VIP». Маркетинг потом делает разные предложения каждой группе.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Сжатие изображений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каждый пиксель имеет цвет (R, G, B). Фото может содержать миллионы уникальных цветов. K-Means группирует похожие цвета в K кластеров (например K=16) и заменяет каждый пиксель на цвет ближайшего центроида. Картинка становится в разы легче, а выглядит почти так же.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Предварительная разметка данных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у тебя 100 000 картинок без меток, размечать вручную дорого. K-Means кластеризует их в группы, и разметчику остаётся только дать имя каждой группе, а не каждой картинке.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Обнаружение аномалий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кластеризуешь нормальное поведение пользователей. Точки, которые далеко от всех центроидов — потенциальные аномалии: мошенничество, взлом, сбой оборудования.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Поисковые системы и рекомендации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документы/товары кластеризуются по содержанию. Когда пользователь что-то ищет, достаточно найти нужный кластер, а не перебирать миллионы документов. Это ускоряет поиск в разы.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Сжатие признаков (feature engineering)</a:t>
            </a: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перед обучением другой модели можно прогнать K-Means и добавить номер кластера как новый признак. Или заменить 1000 категорий товаров на 20 кластеров.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По сути K-Means используется везде, где нужно быстро разбить большой объём данных на группы без заранее известных меток. Он простой, быстрый и масштабируется на миллионы точек - поэтому часто это первое, что пробуют.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background" id="227" name="Google Shape;22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8259" y="1026530"/>
            <a:ext cx="9171801" cy="455089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4"/>
          <p:cNvSpPr txBox="1"/>
          <p:nvPr/>
        </p:nvSpPr>
        <p:spPr>
          <a:xfrm>
            <a:off x="761895" y="169520"/>
            <a:ext cx="111558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67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60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Датасет: Digits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12/17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81775" y="5662950"/>
            <a:ext cx="11688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https://colab.research.google.com/drive/1i4YOxZiFccnV_ikNaJgGaJCBJy30Nuss?usp=sharing</a:t>
            </a:r>
            <a:endParaRPr sz="2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5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Зачем нужно снижение размерности?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731520" y="1188720"/>
            <a:ext cx="10698480" cy="1609344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 txBox="1"/>
          <p:nvPr/>
        </p:nvSpPr>
        <p:spPr>
          <a:xfrm>
            <a:off x="1005840" y="1280160"/>
            <a:ext cx="10058400" cy="1236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Проблема: данные часто многомерные (Digits = 64 пикселя). Визуализировать 64 измерения невозможно.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Решение: «сжать» данные до 2 измерений, сохранив максимум структуры. Это нужно только для визуализации - K-Means работает на исходных 64 признаках!</a:t>
            </a:r>
            <a:endParaRPr/>
          </a:p>
        </p:txBody>
      </p:sp>
      <p:sp>
        <p:nvSpPr>
          <p:cNvPr id="239" name="Google Shape;239;p25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13/17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0" name="Google Shape;24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3965" y="2980944"/>
            <a:ext cx="9891715" cy="370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PCA — как работает?</a:t>
            </a:r>
            <a:endParaRPr/>
          </a:p>
        </p:txBody>
      </p:sp>
      <p:pic>
        <p:nvPicPr>
          <p:cNvPr descr="image.png" id="247" name="Google Shape;24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11521440" cy="3073122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6"/>
          <p:cNvSpPr/>
          <p:nvPr/>
        </p:nvSpPr>
        <p:spPr>
          <a:xfrm>
            <a:off x="731520" y="4663440"/>
            <a:ext cx="10698480" cy="1592981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1005840" y="4709160"/>
            <a:ext cx="10058400" cy="11951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PCA (Principal Component Analysis) — линейное снижение размерности: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Найти направления, вдоль которых данные имеют максимальный разброс (дисперсию)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Спроецировать все точки на эти направления (главные компоненты, PC)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Оставить только первые 2–3 компоненты - получить 2D/3D для визуализации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14/17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t-SNE — как работает?</a:t>
            </a:r>
            <a:endParaRPr/>
          </a:p>
        </p:txBody>
      </p:sp>
      <p:pic>
        <p:nvPicPr>
          <p:cNvPr descr="image.png" id="257" name="Google Shape;2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005840"/>
            <a:ext cx="11521440" cy="325982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7"/>
          <p:cNvSpPr/>
          <p:nvPr/>
        </p:nvSpPr>
        <p:spPr>
          <a:xfrm>
            <a:off x="731520" y="4663440"/>
            <a:ext cx="10698480" cy="20116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1005840" y="4709160"/>
            <a:ext cx="10058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t-SNE (t-distributed Stochastic Neighbor Embedding) — нелинейное снижение: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Для каждой точки определить «соседей» в исходном пространстве (близкие = сильная связь)</a:t>
            </a:r>
            <a:endParaRPr/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Расставить точки на плоскости так, чтобы эти соседства сохранились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9941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7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Итеративно двигать точки, минимизируя разницу между соседствами в исходном и новом пространстве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15/17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8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8"/>
          <p:cNvSpPr txBox="1"/>
          <p:nvPr/>
        </p:nvSpPr>
        <p:spPr>
          <a:xfrm>
            <a:off x="731520" y="274320"/>
            <a:ext cx="1005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К</a:t>
            </a: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ластеризация рукописных цифр</a:t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>
            <a:off x="731520" y="5212080"/>
            <a:ext cx="10698480" cy="155448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1005840" y="539496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Датасет Digits: 1797 изображений 8×8 пикс. (64 признака), цифры 0–9.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K-Means (K=10) находит кластеры, которые хорошо совпадают с реальными цифрами — без единой метки!</a:t>
            </a:r>
            <a:endParaRPr/>
          </a:p>
        </p:txBody>
      </p:sp>
      <p:sp>
        <p:nvSpPr>
          <p:cNvPr id="269" name="Google Shape;269;p28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16/17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0" name="Google Shape;27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58240"/>
            <a:ext cx="11887202" cy="386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F77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9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99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34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Центроиды = «средние цифры» кластеров</a:t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731520" y="4389120"/>
            <a:ext cx="10698480" cy="219456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1005840" y="448056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Верхний ряд (синие): ближайшая к центроиду реальная точка — типичный представитель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Нижний ряд (оранж.): центроид — усреднённое изображение всех точек кластера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lang="ru-RU" sz="180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Центроиды визуально читаемы как цифры — K-Means «научился» различать их без меток!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1155680" y="6400800"/>
            <a:ext cx="9144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ru-RU" sz="10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17/17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0" name="Google Shape;28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2090"/>
            <a:ext cx="11887197" cy="26307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